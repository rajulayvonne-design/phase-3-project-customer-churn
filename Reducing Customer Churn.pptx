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64EA72-E288-4041-8AD0-08DACC80A5B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B138C6-EDB3-44AE-BB3B-A8CB324A2071}">
      <dgm:prSet/>
      <dgm:spPr/>
      <dgm:t>
        <a:bodyPr/>
        <a:lstStyle/>
        <a:p>
          <a:r>
            <a:rPr lang="en-US" b="1" i="0" baseline="0"/>
            <a:t>Goal</a:t>
          </a:r>
          <a:r>
            <a:rPr lang="en-US" b="0" i="0" baseline="0"/>
            <a:t>: To build a predictive model that identifies customers at high risk of leaving (churning).</a:t>
          </a:r>
          <a:endParaRPr lang="en-US"/>
        </a:p>
      </dgm:t>
    </dgm:pt>
    <dgm:pt modelId="{AC22AC73-8F85-4DCD-A6EA-4A8D5F8538C9}" type="parTrans" cxnId="{B371E3AD-75B7-4669-A3AD-1BF080A63FDB}">
      <dgm:prSet/>
      <dgm:spPr/>
      <dgm:t>
        <a:bodyPr/>
        <a:lstStyle/>
        <a:p>
          <a:endParaRPr lang="en-US"/>
        </a:p>
      </dgm:t>
    </dgm:pt>
    <dgm:pt modelId="{0E02BB53-B482-4CE8-8116-77E3B89D9374}" type="sibTrans" cxnId="{B371E3AD-75B7-4669-A3AD-1BF080A63FDB}">
      <dgm:prSet/>
      <dgm:spPr/>
      <dgm:t>
        <a:bodyPr/>
        <a:lstStyle/>
        <a:p>
          <a:endParaRPr lang="en-US"/>
        </a:p>
      </dgm:t>
    </dgm:pt>
    <dgm:pt modelId="{4F4DE97C-BDCC-4ECD-A41C-467BCE5046B5}">
      <dgm:prSet/>
      <dgm:spPr/>
      <dgm:t>
        <a:bodyPr/>
        <a:lstStyle/>
        <a:p>
          <a:r>
            <a:rPr lang="en-US" b="1" i="0" baseline="0"/>
            <a:t>Value Proposition</a:t>
          </a:r>
          <a:r>
            <a:rPr lang="en-US" b="0" i="0" baseline="0"/>
            <a:t>: By predicting churn before it happens, the company can proactively intervene with targeted retention offers, saving revenue and reducing customer acquisition costs.</a:t>
          </a:r>
          <a:endParaRPr lang="en-US"/>
        </a:p>
      </dgm:t>
    </dgm:pt>
    <dgm:pt modelId="{6462DC79-75B6-47C4-8738-977A388E7851}" type="parTrans" cxnId="{B193CEAD-1C3A-4CED-B562-57B67707B2F2}">
      <dgm:prSet/>
      <dgm:spPr/>
      <dgm:t>
        <a:bodyPr/>
        <a:lstStyle/>
        <a:p>
          <a:endParaRPr lang="en-US"/>
        </a:p>
      </dgm:t>
    </dgm:pt>
    <dgm:pt modelId="{F28B278B-BDE2-43DE-8FE8-E71CB872F7F6}" type="sibTrans" cxnId="{B193CEAD-1C3A-4CED-B562-57B67707B2F2}">
      <dgm:prSet/>
      <dgm:spPr/>
      <dgm:t>
        <a:bodyPr/>
        <a:lstStyle/>
        <a:p>
          <a:endParaRPr lang="en-US"/>
        </a:p>
      </dgm:t>
    </dgm:pt>
    <dgm:pt modelId="{9F0D0914-72FA-4571-9290-BD5843C8E032}">
      <dgm:prSet/>
      <dgm:spPr/>
      <dgm:t>
        <a:bodyPr/>
        <a:lstStyle/>
        <a:p>
          <a:r>
            <a:rPr lang="en-US" b="1" i="0" baseline="0"/>
            <a:t>Key Finding</a:t>
          </a:r>
          <a:r>
            <a:rPr lang="en-US" b="0" i="0" baseline="0"/>
            <a:t>: Our models can successfully distinguish between loyal and at-risk clients 81% of the time.</a:t>
          </a:r>
          <a:endParaRPr lang="en-US"/>
        </a:p>
      </dgm:t>
    </dgm:pt>
    <dgm:pt modelId="{3729F33A-DBF5-464E-A4E3-C9E51B69CC24}" type="parTrans" cxnId="{C148E823-1F71-4AA1-A36D-F9CFAC2684B2}">
      <dgm:prSet/>
      <dgm:spPr/>
      <dgm:t>
        <a:bodyPr/>
        <a:lstStyle/>
        <a:p>
          <a:endParaRPr lang="en-US"/>
        </a:p>
      </dgm:t>
    </dgm:pt>
    <dgm:pt modelId="{1B0768E6-9989-4801-B44B-533391CE722F}" type="sibTrans" cxnId="{C148E823-1F71-4AA1-A36D-F9CFAC2684B2}">
      <dgm:prSet/>
      <dgm:spPr/>
      <dgm:t>
        <a:bodyPr/>
        <a:lstStyle/>
        <a:p>
          <a:endParaRPr lang="en-US"/>
        </a:p>
      </dgm:t>
    </dgm:pt>
    <dgm:pt modelId="{7DB93197-B2DD-4049-90B0-BDABF58175E3}" type="pres">
      <dgm:prSet presAssocID="{5564EA72-E288-4041-8AD0-08DACC80A5B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E249612-7209-4678-A177-A3AF212A9479}" type="pres">
      <dgm:prSet presAssocID="{86B138C6-EDB3-44AE-BB3B-A8CB324A2071}" presName="hierRoot1" presStyleCnt="0"/>
      <dgm:spPr/>
    </dgm:pt>
    <dgm:pt modelId="{6F415B9C-E604-4D8A-9087-C85E03DA2EB6}" type="pres">
      <dgm:prSet presAssocID="{86B138C6-EDB3-44AE-BB3B-A8CB324A2071}" presName="composite" presStyleCnt="0"/>
      <dgm:spPr/>
    </dgm:pt>
    <dgm:pt modelId="{5C45C328-5B20-46EC-874B-45684C0AAE63}" type="pres">
      <dgm:prSet presAssocID="{86B138C6-EDB3-44AE-BB3B-A8CB324A2071}" presName="background" presStyleLbl="node0" presStyleIdx="0" presStyleCnt="3"/>
      <dgm:spPr/>
    </dgm:pt>
    <dgm:pt modelId="{9C0E05FF-1F87-4D91-876C-74920C70BECC}" type="pres">
      <dgm:prSet presAssocID="{86B138C6-EDB3-44AE-BB3B-A8CB324A2071}" presName="text" presStyleLbl="fgAcc0" presStyleIdx="0" presStyleCnt="3">
        <dgm:presLayoutVars>
          <dgm:chPref val="3"/>
        </dgm:presLayoutVars>
      </dgm:prSet>
      <dgm:spPr/>
    </dgm:pt>
    <dgm:pt modelId="{BF757298-F338-46E2-86AB-912A8B1DFF18}" type="pres">
      <dgm:prSet presAssocID="{86B138C6-EDB3-44AE-BB3B-A8CB324A2071}" presName="hierChild2" presStyleCnt="0"/>
      <dgm:spPr/>
    </dgm:pt>
    <dgm:pt modelId="{91AD5961-4953-408D-867F-5E505E41FD0A}" type="pres">
      <dgm:prSet presAssocID="{4F4DE97C-BDCC-4ECD-A41C-467BCE5046B5}" presName="hierRoot1" presStyleCnt="0"/>
      <dgm:spPr/>
    </dgm:pt>
    <dgm:pt modelId="{E97B695E-76BA-4303-813C-18E732654959}" type="pres">
      <dgm:prSet presAssocID="{4F4DE97C-BDCC-4ECD-A41C-467BCE5046B5}" presName="composite" presStyleCnt="0"/>
      <dgm:spPr/>
    </dgm:pt>
    <dgm:pt modelId="{9199EEA4-1ABC-4BDD-AD42-5A876714A98D}" type="pres">
      <dgm:prSet presAssocID="{4F4DE97C-BDCC-4ECD-A41C-467BCE5046B5}" presName="background" presStyleLbl="node0" presStyleIdx="1" presStyleCnt="3"/>
      <dgm:spPr/>
    </dgm:pt>
    <dgm:pt modelId="{0EFF566A-1E9E-4728-8330-C57E2B73AEC7}" type="pres">
      <dgm:prSet presAssocID="{4F4DE97C-BDCC-4ECD-A41C-467BCE5046B5}" presName="text" presStyleLbl="fgAcc0" presStyleIdx="1" presStyleCnt="3">
        <dgm:presLayoutVars>
          <dgm:chPref val="3"/>
        </dgm:presLayoutVars>
      </dgm:prSet>
      <dgm:spPr/>
    </dgm:pt>
    <dgm:pt modelId="{4A043DD4-62BF-462E-86A0-C53F8F6B6C0B}" type="pres">
      <dgm:prSet presAssocID="{4F4DE97C-BDCC-4ECD-A41C-467BCE5046B5}" presName="hierChild2" presStyleCnt="0"/>
      <dgm:spPr/>
    </dgm:pt>
    <dgm:pt modelId="{E7EAE735-D147-421C-AA4B-67DE79F7075C}" type="pres">
      <dgm:prSet presAssocID="{9F0D0914-72FA-4571-9290-BD5843C8E032}" presName="hierRoot1" presStyleCnt="0"/>
      <dgm:spPr/>
    </dgm:pt>
    <dgm:pt modelId="{8AF15D00-A114-4A04-ACE6-EF5120819CC0}" type="pres">
      <dgm:prSet presAssocID="{9F0D0914-72FA-4571-9290-BD5843C8E032}" presName="composite" presStyleCnt="0"/>
      <dgm:spPr/>
    </dgm:pt>
    <dgm:pt modelId="{4E510701-6CCF-46A3-B851-AAC726E32B6B}" type="pres">
      <dgm:prSet presAssocID="{9F0D0914-72FA-4571-9290-BD5843C8E032}" presName="background" presStyleLbl="node0" presStyleIdx="2" presStyleCnt="3"/>
      <dgm:spPr/>
    </dgm:pt>
    <dgm:pt modelId="{F91E150E-D2BA-4C3E-B986-E3BBAB8535FE}" type="pres">
      <dgm:prSet presAssocID="{9F0D0914-72FA-4571-9290-BD5843C8E032}" presName="text" presStyleLbl="fgAcc0" presStyleIdx="2" presStyleCnt="3">
        <dgm:presLayoutVars>
          <dgm:chPref val="3"/>
        </dgm:presLayoutVars>
      </dgm:prSet>
      <dgm:spPr/>
    </dgm:pt>
    <dgm:pt modelId="{AC25D2D0-E98A-47D0-B1DB-85D610A87542}" type="pres">
      <dgm:prSet presAssocID="{9F0D0914-72FA-4571-9290-BD5843C8E032}" presName="hierChild2" presStyleCnt="0"/>
      <dgm:spPr/>
    </dgm:pt>
  </dgm:ptLst>
  <dgm:cxnLst>
    <dgm:cxn modelId="{C148E823-1F71-4AA1-A36D-F9CFAC2684B2}" srcId="{5564EA72-E288-4041-8AD0-08DACC80A5B0}" destId="{9F0D0914-72FA-4571-9290-BD5843C8E032}" srcOrd="2" destOrd="0" parTransId="{3729F33A-DBF5-464E-A4E3-C9E51B69CC24}" sibTransId="{1B0768E6-9989-4801-B44B-533391CE722F}"/>
    <dgm:cxn modelId="{3B0B7D6D-2AF0-4E76-97AE-96C0AE235529}" type="presOf" srcId="{86B138C6-EDB3-44AE-BB3B-A8CB324A2071}" destId="{9C0E05FF-1F87-4D91-876C-74920C70BECC}" srcOrd="0" destOrd="0" presId="urn:microsoft.com/office/officeart/2005/8/layout/hierarchy1"/>
    <dgm:cxn modelId="{7BFBB557-1CDE-4E03-8550-F40298C54C21}" type="presOf" srcId="{4F4DE97C-BDCC-4ECD-A41C-467BCE5046B5}" destId="{0EFF566A-1E9E-4728-8330-C57E2B73AEC7}" srcOrd="0" destOrd="0" presId="urn:microsoft.com/office/officeart/2005/8/layout/hierarchy1"/>
    <dgm:cxn modelId="{B193CEAD-1C3A-4CED-B562-57B67707B2F2}" srcId="{5564EA72-E288-4041-8AD0-08DACC80A5B0}" destId="{4F4DE97C-BDCC-4ECD-A41C-467BCE5046B5}" srcOrd="1" destOrd="0" parTransId="{6462DC79-75B6-47C4-8738-977A388E7851}" sibTransId="{F28B278B-BDE2-43DE-8FE8-E71CB872F7F6}"/>
    <dgm:cxn modelId="{B371E3AD-75B7-4669-A3AD-1BF080A63FDB}" srcId="{5564EA72-E288-4041-8AD0-08DACC80A5B0}" destId="{86B138C6-EDB3-44AE-BB3B-A8CB324A2071}" srcOrd="0" destOrd="0" parTransId="{AC22AC73-8F85-4DCD-A6EA-4A8D5F8538C9}" sibTransId="{0E02BB53-B482-4CE8-8116-77E3B89D9374}"/>
    <dgm:cxn modelId="{CDF0ADB7-30C8-4A30-A707-32AF4CC29150}" type="presOf" srcId="{5564EA72-E288-4041-8AD0-08DACC80A5B0}" destId="{7DB93197-B2DD-4049-90B0-BDABF58175E3}" srcOrd="0" destOrd="0" presId="urn:microsoft.com/office/officeart/2005/8/layout/hierarchy1"/>
    <dgm:cxn modelId="{0EA092BA-FFE0-4394-BBFD-74D785BE64B5}" type="presOf" srcId="{9F0D0914-72FA-4571-9290-BD5843C8E032}" destId="{F91E150E-D2BA-4C3E-B986-E3BBAB8535FE}" srcOrd="0" destOrd="0" presId="urn:microsoft.com/office/officeart/2005/8/layout/hierarchy1"/>
    <dgm:cxn modelId="{97BFE593-5856-4131-8F3D-0EDC5DB57403}" type="presParOf" srcId="{7DB93197-B2DD-4049-90B0-BDABF58175E3}" destId="{FE249612-7209-4678-A177-A3AF212A9479}" srcOrd="0" destOrd="0" presId="urn:microsoft.com/office/officeart/2005/8/layout/hierarchy1"/>
    <dgm:cxn modelId="{3BF6F47C-F821-4F3E-B3ED-FA79805CC354}" type="presParOf" srcId="{FE249612-7209-4678-A177-A3AF212A9479}" destId="{6F415B9C-E604-4D8A-9087-C85E03DA2EB6}" srcOrd="0" destOrd="0" presId="urn:microsoft.com/office/officeart/2005/8/layout/hierarchy1"/>
    <dgm:cxn modelId="{07DE7293-D042-42FD-B3A6-E0A520133705}" type="presParOf" srcId="{6F415B9C-E604-4D8A-9087-C85E03DA2EB6}" destId="{5C45C328-5B20-46EC-874B-45684C0AAE63}" srcOrd="0" destOrd="0" presId="urn:microsoft.com/office/officeart/2005/8/layout/hierarchy1"/>
    <dgm:cxn modelId="{666F31BC-76C4-43CD-882C-4C648585E476}" type="presParOf" srcId="{6F415B9C-E604-4D8A-9087-C85E03DA2EB6}" destId="{9C0E05FF-1F87-4D91-876C-74920C70BECC}" srcOrd="1" destOrd="0" presId="urn:microsoft.com/office/officeart/2005/8/layout/hierarchy1"/>
    <dgm:cxn modelId="{D0775A3F-E2D5-4549-9C2D-C438CCBEDB75}" type="presParOf" srcId="{FE249612-7209-4678-A177-A3AF212A9479}" destId="{BF757298-F338-46E2-86AB-912A8B1DFF18}" srcOrd="1" destOrd="0" presId="urn:microsoft.com/office/officeart/2005/8/layout/hierarchy1"/>
    <dgm:cxn modelId="{FD1085BA-0FF4-4B2F-A767-303334910D67}" type="presParOf" srcId="{7DB93197-B2DD-4049-90B0-BDABF58175E3}" destId="{91AD5961-4953-408D-867F-5E505E41FD0A}" srcOrd="1" destOrd="0" presId="urn:microsoft.com/office/officeart/2005/8/layout/hierarchy1"/>
    <dgm:cxn modelId="{223CC10A-3BA0-4591-B0EA-52F8C83EC682}" type="presParOf" srcId="{91AD5961-4953-408D-867F-5E505E41FD0A}" destId="{E97B695E-76BA-4303-813C-18E732654959}" srcOrd="0" destOrd="0" presId="urn:microsoft.com/office/officeart/2005/8/layout/hierarchy1"/>
    <dgm:cxn modelId="{F657BA23-4642-4794-AA60-5FF984656B12}" type="presParOf" srcId="{E97B695E-76BA-4303-813C-18E732654959}" destId="{9199EEA4-1ABC-4BDD-AD42-5A876714A98D}" srcOrd="0" destOrd="0" presId="urn:microsoft.com/office/officeart/2005/8/layout/hierarchy1"/>
    <dgm:cxn modelId="{1F07328A-4FED-4D56-8865-30D25834DA7D}" type="presParOf" srcId="{E97B695E-76BA-4303-813C-18E732654959}" destId="{0EFF566A-1E9E-4728-8330-C57E2B73AEC7}" srcOrd="1" destOrd="0" presId="urn:microsoft.com/office/officeart/2005/8/layout/hierarchy1"/>
    <dgm:cxn modelId="{B6BC9E95-A885-4CB6-A04B-47B5C4DB48A1}" type="presParOf" srcId="{91AD5961-4953-408D-867F-5E505E41FD0A}" destId="{4A043DD4-62BF-462E-86A0-C53F8F6B6C0B}" srcOrd="1" destOrd="0" presId="urn:microsoft.com/office/officeart/2005/8/layout/hierarchy1"/>
    <dgm:cxn modelId="{5527F9CB-B94C-4549-9483-83B572D0049A}" type="presParOf" srcId="{7DB93197-B2DD-4049-90B0-BDABF58175E3}" destId="{E7EAE735-D147-421C-AA4B-67DE79F7075C}" srcOrd="2" destOrd="0" presId="urn:microsoft.com/office/officeart/2005/8/layout/hierarchy1"/>
    <dgm:cxn modelId="{F7A4EECD-A956-42ED-8891-2C1B3D31ACBD}" type="presParOf" srcId="{E7EAE735-D147-421C-AA4B-67DE79F7075C}" destId="{8AF15D00-A114-4A04-ACE6-EF5120819CC0}" srcOrd="0" destOrd="0" presId="urn:microsoft.com/office/officeart/2005/8/layout/hierarchy1"/>
    <dgm:cxn modelId="{EEDBC78C-4DE6-4931-93E2-D940D361B762}" type="presParOf" srcId="{8AF15D00-A114-4A04-ACE6-EF5120819CC0}" destId="{4E510701-6CCF-46A3-B851-AAC726E32B6B}" srcOrd="0" destOrd="0" presId="urn:microsoft.com/office/officeart/2005/8/layout/hierarchy1"/>
    <dgm:cxn modelId="{2A03E250-1D55-4D4D-A234-2D75F9FED47D}" type="presParOf" srcId="{8AF15D00-A114-4A04-ACE6-EF5120819CC0}" destId="{F91E150E-D2BA-4C3E-B986-E3BBAB8535FE}" srcOrd="1" destOrd="0" presId="urn:microsoft.com/office/officeart/2005/8/layout/hierarchy1"/>
    <dgm:cxn modelId="{6984A9CD-914C-4C13-8E26-7E2C15DA3EE1}" type="presParOf" srcId="{E7EAE735-D147-421C-AA4B-67DE79F7075C}" destId="{AC25D2D0-E98A-47D0-B1DB-85D610A875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FE9BC8-CEE1-4906-A88A-6ED07146ADCB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5BA9518A-EDD1-4AC7-9761-5332BBF0D3C6}">
      <dgm:prSet/>
      <dgm:spPr/>
      <dgm:t>
        <a:bodyPr/>
        <a:lstStyle/>
        <a:p>
          <a:r>
            <a:rPr lang="en-US" b="1" i="0" baseline="0"/>
            <a:t>Pilot Program</a:t>
          </a:r>
          <a:r>
            <a:rPr lang="en-US" b="0" i="0" baseline="0"/>
            <a:t>: Deploy the Decision Tree model on a small subset of current customers to test real-world predictive accuracy.</a:t>
          </a:r>
          <a:endParaRPr lang="en-US"/>
        </a:p>
      </dgm:t>
    </dgm:pt>
    <dgm:pt modelId="{42019AEE-2B6C-407A-BB5C-A4461808F19A}" type="parTrans" cxnId="{C52BD379-1ACB-43A8-AE34-9753050E7EE8}">
      <dgm:prSet/>
      <dgm:spPr/>
      <dgm:t>
        <a:bodyPr/>
        <a:lstStyle/>
        <a:p>
          <a:endParaRPr lang="en-US"/>
        </a:p>
      </dgm:t>
    </dgm:pt>
    <dgm:pt modelId="{93DB65A3-A755-48CD-BA3B-52BBC3205E0F}" type="sibTrans" cxnId="{C52BD379-1ACB-43A8-AE34-9753050E7EE8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14E6F1C9-A543-4786-B9B6-BC367F408068}">
      <dgm:prSet/>
      <dgm:spPr/>
      <dgm:t>
        <a:bodyPr/>
        <a:lstStyle/>
        <a:p>
          <a:r>
            <a:rPr lang="en-US" b="1" i="0" baseline="0"/>
            <a:t>Proactive Retention</a:t>
          </a:r>
          <a:r>
            <a:rPr lang="en-US" b="0" i="0" baseline="0"/>
            <a:t>: Equip the customer service team with "Save Desk" offers specifically for customers flagged by the model.</a:t>
          </a:r>
          <a:endParaRPr lang="en-US"/>
        </a:p>
      </dgm:t>
    </dgm:pt>
    <dgm:pt modelId="{1177342C-BDFB-4081-8AB2-D17A8E12EDB5}" type="parTrans" cxnId="{16393918-64F8-440E-B78C-0695140EB8BC}">
      <dgm:prSet/>
      <dgm:spPr/>
      <dgm:t>
        <a:bodyPr/>
        <a:lstStyle/>
        <a:p>
          <a:endParaRPr lang="en-US"/>
        </a:p>
      </dgm:t>
    </dgm:pt>
    <dgm:pt modelId="{F22610E3-AFB3-437C-833C-32EEC0A78FC7}" type="sibTrans" cxnId="{16393918-64F8-440E-B78C-0695140EB8BC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010B0772-81EC-4986-BFF5-4C7A2B3EED05}">
      <dgm:prSet/>
      <dgm:spPr/>
      <dgm:t>
        <a:bodyPr/>
        <a:lstStyle/>
        <a:p>
          <a:r>
            <a:rPr lang="en-US" b="1" i="0" baseline="0"/>
            <a:t>Feedback Loop</a:t>
          </a:r>
          <a:r>
            <a:rPr lang="en-US" b="0" i="0" baseline="0"/>
            <a:t>: Regularly update the model with new customer data to account for changing market trends and competitor offers.</a:t>
          </a:r>
          <a:endParaRPr lang="en-US"/>
        </a:p>
      </dgm:t>
    </dgm:pt>
    <dgm:pt modelId="{261E9070-EDC9-4E01-944E-566D93792104}" type="parTrans" cxnId="{AB55A961-1899-45C5-8695-7A0B340BD59E}">
      <dgm:prSet/>
      <dgm:spPr/>
      <dgm:t>
        <a:bodyPr/>
        <a:lstStyle/>
        <a:p>
          <a:endParaRPr lang="en-US"/>
        </a:p>
      </dgm:t>
    </dgm:pt>
    <dgm:pt modelId="{97FCF9B2-C65C-4F08-9E92-19B5DB5CC496}" type="sibTrans" cxnId="{AB55A961-1899-45C5-8695-7A0B340BD59E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51443351-0079-4B15-A5DC-208E0F101EF4}" type="pres">
      <dgm:prSet presAssocID="{05FE9BC8-CEE1-4906-A88A-6ED07146ADCB}" presName="Name0" presStyleCnt="0">
        <dgm:presLayoutVars>
          <dgm:animLvl val="lvl"/>
          <dgm:resizeHandles val="exact"/>
        </dgm:presLayoutVars>
      </dgm:prSet>
      <dgm:spPr/>
    </dgm:pt>
    <dgm:pt modelId="{0481602C-F059-45C9-A852-8920BF31EEEF}" type="pres">
      <dgm:prSet presAssocID="{5BA9518A-EDD1-4AC7-9761-5332BBF0D3C6}" presName="compositeNode" presStyleCnt="0">
        <dgm:presLayoutVars>
          <dgm:bulletEnabled val="1"/>
        </dgm:presLayoutVars>
      </dgm:prSet>
      <dgm:spPr/>
    </dgm:pt>
    <dgm:pt modelId="{B39B4084-67CA-4533-833F-8610CC0A787D}" type="pres">
      <dgm:prSet presAssocID="{5BA9518A-EDD1-4AC7-9761-5332BBF0D3C6}" presName="bgRect" presStyleLbl="bgAccFollowNode1" presStyleIdx="0" presStyleCnt="3"/>
      <dgm:spPr/>
    </dgm:pt>
    <dgm:pt modelId="{B0AE31B9-B540-49C4-A7D7-986044CF6C5C}" type="pres">
      <dgm:prSet presAssocID="{93DB65A3-A755-48CD-BA3B-52BBC3205E0F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1CB9765D-6D2F-4FF1-9996-25B191ACC740}" type="pres">
      <dgm:prSet presAssocID="{5BA9518A-EDD1-4AC7-9761-5332BBF0D3C6}" presName="bottomLine" presStyleLbl="alignNode1" presStyleIdx="1" presStyleCnt="6">
        <dgm:presLayoutVars/>
      </dgm:prSet>
      <dgm:spPr/>
    </dgm:pt>
    <dgm:pt modelId="{8CE3238D-1FA0-4B6F-B108-CE6D8DBA2078}" type="pres">
      <dgm:prSet presAssocID="{5BA9518A-EDD1-4AC7-9761-5332BBF0D3C6}" presName="nodeText" presStyleLbl="bgAccFollowNode1" presStyleIdx="0" presStyleCnt="3">
        <dgm:presLayoutVars>
          <dgm:bulletEnabled val="1"/>
        </dgm:presLayoutVars>
      </dgm:prSet>
      <dgm:spPr/>
    </dgm:pt>
    <dgm:pt modelId="{96E8A5E8-F2CD-43FA-97BA-84BC59CCAAA8}" type="pres">
      <dgm:prSet presAssocID="{93DB65A3-A755-48CD-BA3B-52BBC3205E0F}" presName="sibTrans" presStyleCnt="0"/>
      <dgm:spPr/>
    </dgm:pt>
    <dgm:pt modelId="{D7CD753D-26D9-4B42-9027-63148B06D2DE}" type="pres">
      <dgm:prSet presAssocID="{14E6F1C9-A543-4786-B9B6-BC367F408068}" presName="compositeNode" presStyleCnt="0">
        <dgm:presLayoutVars>
          <dgm:bulletEnabled val="1"/>
        </dgm:presLayoutVars>
      </dgm:prSet>
      <dgm:spPr/>
    </dgm:pt>
    <dgm:pt modelId="{9712BDB3-2C33-4011-AAAF-56ADA0001922}" type="pres">
      <dgm:prSet presAssocID="{14E6F1C9-A543-4786-B9B6-BC367F408068}" presName="bgRect" presStyleLbl="bgAccFollowNode1" presStyleIdx="1" presStyleCnt="3"/>
      <dgm:spPr/>
    </dgm:pt>
    <dgm:pt modelId="{FAD268F4-68BD-4608-817C-4AC11DB0C075}" type="pres">
      <dgm:prSet presAssocID="{F22610E3-AFB3-437C-833C-32EEC0A78FC7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E8A258B5-7BCA-4565-8454-AA2F68662659}" type="pres">
      <dgm:prSet presAssocID="{14E6F1C9-A543-4786-B9B6-BC367F408068}" presName="bottomLine" presStyleLbl="alignNode1" presStyleIdx="3" presStyleCnt="6">
        <dgm:presLayoutVars/>
      </dgm:prSet>
      <dgm:spPr/>
    </dgm:pt>
    <dgm:pt modelId="{21E50E53-C6CC-4C53-856E-234179C0C6B4}" type="pres">
      <dgm:prSet presAssocID="{14E6F1C9-A543-4786-B9B6-BC367F408068}" presName="nodeText" presStyleLbl="bgAccFollowNode1" presStyleIdx="1" presStyleCnt="3">
        <dgm:presLayoutVars>
          <dgm:bulletEnabled val="1"/>
        </dgm:presLayoutVars>
      </dgm:prSet>
      <dgm:spPr/>
    </dgm:pt>
    <dgm:pt modelId="{67DD15E1-CA2C-48BD-98A7-692EC232989F}" type="pres">
      <dgm:prSet presAssocID="{F22610E3-AFB3-437C-833C-32EEC0A78FC7}" presName="sibTrans" presStyleCnt="0"/>
      <dgm:spPr/>
    </dgm:pt>
    <dgm:pt modelId="{562DCC43-6BB1-41FA-99D6-CEB9727B45C9}" type="pres">
      <dgm:prSet presAssocID="{010B0772-81EC-4986-BFF5-4C7A2B3EED05}" presName="compositeNode" presStyleCnt="0">
        <dgm:presLayoutVars>
          <dgm:bulletEnabled val="1"/>
        </dgm:presLayoutVars>
      </dgm:prSet>
      <dgm:spPr/>
    </dgm:pt>
    <dgm:pt modelId="{E82204A4-7B3D-4B96-BF40-17070B883589}" type="pres">
      <dgm:prSet presAssocID="{010B0772-81EC-4986-BFF5-4C7A2B3EED05}" presName="bgRect" presStyleLbl="bgAccFollowNode1" presStyleIdx="2" presStyleCnt="3"/>
      <dgm:spPr/>
    </dgm:pt>
    <dgm:pt modelId="{4F948363-9382-4E78-BECA-97915909D6C6}" type="pres">
      <dgm:prSet presAssocID="{97FCF9B2-C65C-4F08-9E92-19B5DB5CC496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BE203DF7-E6CB-4B6E-8F43-14C17DD996F2}" type="pres">
      <dgm:prSet presAssocID="{010B0772-81EC-4986-BFF5-4C7A2B3EED05}" presName="bottomLine" presStyleLbl="alignNode1" presStyleIdx="5" presStyleCnt="6">
        <dgm:presLayoutVars/>
      </dgm:prSet>
      <dgm:spPr/>
    </dgm:pt>
    <dgm:pt modelId="{0C8AA862-5FEB-434B-9E34-AE458E0C8AF5}" type="pres">
      <dgm:prSet presAssocID="{010B0772-81EC-4986-BFF5-4C7A2B3EED05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3A30DF09-5BAB-4EFA-9326-B96155789271}" type="presOf" srcId="{97FCF9B2-C65C-4F08-9E92-19B5DB5CC496}" destId="{4F948363-9382-4E78-BECA-97915909D6C6}" srcOrd="0" destOrd="0" presId="urn:microsoft.com/office/officeart/2016/7/layout/BasicLinearProcessNumbered"/>
    <dgm:cxn modelId="{16393918-64F8-440E-B78C-0695140EB8BC}" srcId="{05FE9BC8-CEE1-4906-A88A-6ED07146ADCB}" destId="{14E6F1C9-A543-4786-B9B6-BC367F408068}" srcOrd="1" destOrd="0" parTransId="{1177342C-BDFB-4081-8AB2-D17A8E12EDB5}" sibTransId="{F22610E3-AFB3-437C-833C-32EEC0A78FC7}"/>
    <dgm:cxn modelId="{C7050F1D-C7CB-46E0-AACA-E31E37381956}" type="presOf" srcId="{F22610E3-AFB3-437C-833C-32EEC0A78FC7}" destId="{FAD268F4-68BD-4608-817C-4AC11DB0C075}" srcOrd="0" destOrd="0" presId="urn:microsoft.com/office/officeart/2016/7/layout/BasicLinearProcessNumbered"/>
    <dgm:cxn modelId="{A764C928-4014-4BD3-BC7C-5779AC093836}" type="presOf" srcId="{010B0772-81EC-4986-BFF5-4C7A2B3EED05}" destId="{0C8AA862-5FEB-434B-9E34-AE458E0C8AF5}" srcOrd="1" destOrd="0" presId="urn:microsoft.com/office/officeart/2016/7/layout/BasicLinearProcessNumbered"/>
    <dgm:cxn modelId="{5855823C-43A6-43DF-A26C-66C30747AD03}" type="presOf" srcId="{14E6F1C9-A543-4786-B9B6-BC367F408068}" destId="{21E50E53-C6CC-4C53-856E-234179C0C6B4}" srcOrd="1" destOrd="0" presId="urn:microsoft.com/office/officeart/2016/7/layout/BasicLinearProcessNumbered"/>
    <dgm:cxn modelId="{AB55A961-1899-45C5-8695-7A0B340BD59E}" srcId="{05FE9BC8-CEE1-4906-A88A-6ED07146ADCB}" destId="{010B0772-81EC-4986-BFF5-4C7A2B3EED05}" srcOrd="2" destOrd="0" parTransId="{261E9070-EDC9-4E01-944E-566D93792104}" sibTransId="{97FCF9B2-C65C-4F08-9E92-19B5DB5CC496}"/>
    <dgm:cxn modelId="{4A7E3A49-FFD8-4557-BF33-EAF48766BB03}" type="presOf" srcId="{93DB65A3-A755-48CD-BA3B-52BBC3205E0F}" destId="{B0AE31B9-B540-49C4-A7D7-986044CF6C5C}" srcOrd="0" destOrd="0" presId="urn:microsoft.com/office/officeart/2016/7/layout/BasicLinearProcessNumbered"/>
    <dgm:cxn modelId="{46008769-1EB4-4342-A505-8F1B860F2117}" type="presOf" srcId="{14E6F1C9-A543-4786-B9B6-BC367F408068}" destId="{9712BDB3-2C33-4011-AAAF-56ADA0001922}" srcOrd="0" destOrd="0" presId="urn:microsoft.com/office/officeart/2016/7/layout/BasicLinearProcessNumbered"/>
    <dgm:cxn modelId="{D595F46F-BC7C-42A2-8569-2AC17DB8006D}" type="presOf" srcId="{010B0772-81EC-4986-BFF5-4C7A2B3EED05}" destId="{E82204A4-7B3D-4B96-BF40-17070B883589}" srcOrd="0" destOrd="0" presId="urn:microsoft.com/office/officeart/2016/7/layout/BasicLinearProcessNumbered"/>
    <dgm:cxn modelId="{02A14677-15CB-4DD2-8A8B-0B051C6445E0}" type="presOf" srcId="{5BA9518A-EDD1-4AC7-9761-5332BBF0D3C6}" destId="{B39B4084-67CA-4533-833F-8610CC0A787D}" srcOrd="0" destOrd="0" presId="urn:microsoft.com/office/officeart/2016/7/layout/BasicLinearProcessNumbered"/>
    <dgm:cxn modelId="{C52BD379-1ACB-43A8-AE34-9753050E7EE8}" srcId="{05FE9BC8-CEE1-4906-A88A-6ED07146ADCB}" destId="{5BA9518A-EDD1-4AC7-9761-5332BBF0D3C6}" srcOrd="0" destOrd="0" parTransId="{42019AEE-2B6C-407A-BB5C-A4461808F19A}" sibTransId="{93DB65A3-A755-48CD-BA3B-52BBC3205E0F}"/>
    <dgm:cxn modelId="{A78ED885-F66E-4CDB-9ED3-9B87B8E03D4D}" type="presOf" srcId="{5BA9518A-EDD1-4AC7-9761-5332BBF0D3C6}" destId="{8CE3238D-1FA0-4B6F-B108-CE6D8DBA2078}" srcOrd="1" destOrd="0" presId="urn:microsoft.com/office/officeart/2016/7/layout/BasicLinearProcessNumbered"/>
    <dgm:cxn modelId="{500E088F-1929-4F49-8FE3-9128623AC2F2}" type="presOf" srcId="{05FE9BC8-CEE1-4906-A88A-6ED07146ADCB}" destId="{51443351-0079-4B15-A5DC-208E0F101EF4}" srcOrd="0" destOrd="0" presId="urn:microsoft.com/office/officeart/2016/7/layout/BasicLinearProcessNumbered"/>
    <dgm:cxn modelId="{6C20A8B2-94A8-4FE3-B307-F67165374EC1}" type="presParOf" srcId="{51443351-0079-4B15-A5DC-208E0F101EF4}" destId="{0481602C-F059-45C9-A852-8920BF31EEEF}" srcOrd="0" destOrd="0" presId="urn:microsoft.com/office/officeart/2016/7/layout/BasicLinearProcessNumbered"/>
    <dgm:cxn modelId="{C147384F-EEA5-43EF-9F31-F37C6ABC42B0}" type="presParOf" srcId="{0481602C-F059-45C9-A852-8920BF31EEEF}" destId="{B39B4084-67CA-4533-833F-8610CC0A787D}" srcOrd="0" destOrd="0" presId="urn:microsoft.com/office/officeart/2016/7/layout/BasicLinearProcessNumbered"/>
    <dgm:cxn modelId="{417B7B4A-2745-490C-8A1C-A1010706D0EA}" type="presParOf" srcId="{0481602C-F059-45C9-A852-8920BF31EEEF}" destId="{B0AE31B9-B540-49C4-A7D7-986044CF6C5C}" srcOrd="1" destOrd="0" presId="urn:microsoft.com/office/officeart/2016/7/layout/BasicLinearProcessNumbered"/>
    <dgm:cxn modelId="{ADF313D4-0604-4AC5-AAE3-012D7BCF63BC}" type="presParOf" srcId="{0481602C-F059-45C9-A852-8920BF31EEEF}" destId="{1CB9765D-6D2F-4FF1-9996-25B191ACC740}" srcOrd="2" destOrd="0" presId="urn:microsoft.com/office/officeart/2016/7/layout/BasicLinearProcessNumbered"/>
    <dgm:cxn modelId="{A451F8F5-5A21-4545-B1FD-7659622AC0B2}" type="presParOf" srcId="{0481602C-F059-45C9-A852-8920BF31EEEF}" destId="{8CE3238D-1FA0-4B6F-B108-CE6D8DBA2078}" srcOrd="3" destOrd="0" presId="urn:microsoft.com/office/officeart/2016/7/layout/BasicLinearProcessNumbered"/>
    <dgm:cxn modelId="{117D25BA-4092-4EA9-90F6-75D97BA54D37}" type="presParOf" srcId="{51443351-0079-4B15-A5DC-208E0F101EF4}" destId="{96E8A5E8-F2CD-43FA-97BA-84BC59CCAAA8}" srcOrd="1" destOrd="0" presId="urn:microsoft.com/office/officeart/2016/7/layout/BasicLinearProcessNumbered"/>
    <dgm:cxn modelId="{3F10BCA6-0BC9-4312-9BF3-C7F206164319}" type="presParOf" srcId="{51443351-0079-4B15-A5DC-208E0F101EF4}" destId="{D7CD753D-26D9-4B42-9027-63148B06D2DE}" srcOrd="2" destOrd="0" presId="urn:microsoft.com/office/officeart/2016/7/layout/BasicLinearProcessNumbered"/>
    <dgm:cxn modelId="{9D3F2B12-645B-42B7-BEBD-0B55F1939B5D}" type="presParOf" srcId="{D7CD753D-26D9-4B42-9027-63148B06D2DE}" destId="{9712BDB3-2C33-4011-AAAF-56ADA0001922}" srcOrd="0" destOrd="0" presId="urn:microsoft.com/office/officeart/2016/7/layout/BasicLinearProcessNumbered"/>
    <dgm:cxn modelId="{21732416-CC89-4447-A383-EF4558B0CAF5}" type="presParOf" srcId="{D7CD753D-26D9-4B42-9027-63148B06D2DE}" destId="{FAD268F4-68BD-4608-817C-4AC11DB0C075}" srcOrd="1" destOrd="0" presId="urn:microsoft.com/office/officeart/2016/7/layout/BasicLinearProcessNumbered"/>
    <dgm:cxn modelId="{EECB0153-0756-4258-A751-5DF863784933}" type="presParOf" srcId="{D7CD753D-26D9-4B42-9027-63148B06D2DE}" destId="{E8A258B5-7BCA-4565-8454-AA2F68662659}" srcOrd="2" destOrd="0" presId="urn:microsoft.com/office/officeart/2016/7/layout/BasicLinearProcessNumbered"/>
    <dgm:cxn modelId="{51E9CA24-1D70-4E7B-A68B-548E22606736}" type="presParOf" srcId="{D7CD753D-26D9-4B42-9027-63148B06D2DE}" destId="{21E50E53-C6CC-4C53-856E-234179C0C6B4}" srcOrd="3" destOrd="0" presId="urn:microsoft.com/office/officeart/2016/7/layout/BasicLinearProcessNumbered"/>
    <dgm:cxn modelId="{9EFF4792-4D3A-4C59-998E-DBB01A0FA31F}" type="presParOf" srcId="{51443351-0079-4B15-A5DC-208E0F101EF4}" destId="{67DD15E1-CA2C-48BD-98A7-692EC232989F}" srcOrd="3" destOrd="0" presId="urn:microsoft.com/office/officeart/2016/7/layout/BasicLinearProcessNumbered"/>
    <dgm:cxn modelId="{FAD6A622-AB9E-45F6-BC04-87DA57B3C4EC}" type="presParOf" srcId="{51443351-0079-4B15-A5DC-208E0F101EF4}" destId="{562DCC43-6BB1-41FA-99D6-CEB9727B45C9}" srcOrd="4" destOrd="0" presId="urn:microsoft.com/office/officeart/2016/7/layout/BasicLinearProcessNumbered"/>
    <dgm:cxn modelId="{461CDAC1-92E3-4F93-B2BF-3A1A33C1FBBF}" type="presParOf" srcId="{562DCC43-6BB1-41FA-99D6-CEB9727B45C9}" destId="{E82204A4-7B3D-4B96-BF40-17070B883589}" srcOrd="0" destOrd="0" presId="urn:microsoft.com/office/officeart/2016/7/layout/BasicLinearProcessNumbered"/>
    <dgm:cxn modelId="{0903CFB9-6B80-41AB-957B-F3527F18721B}" type="presParOf" srcId="{562DCC43-6BB1-41FA-99D6-CEB9727B45C9}" destId="{4F948363-9382-4E78-BECA-97915909D6C6}" srcOrd="1" destOrd="0" presId="urn:microsoft.com/office/officeart/2016/7/layout/BasicLinearProcessNumbered"/>
    <dgm:cxn modelId="{66D17EB7-2CDC-4C92-8D78-A61FBA5AAA1A}" type="presParOf" srcId="{562DCC43-6BB1-41FA-99D6-CEB9727B45C9}" destId="{BE203DF7-E6CB-4B6E-8F43-14C17DD996F2}" srcOrd="2" destOrd="0" presId="urn:microsoft.com/office/officeart/2016/7/layout/BasicLinearProcessNumbered"/>
    <dgm:cxn modelId="{A945E151-9ACB-42C3-8253-E904BAFA52D6}" type="presParOf" srcId="{562DCC43-6BB1-41FA-99D6-CEB9727B45C9}" destId="{0C8AA862-5FEB-434B-9E34-AE458E0C8AF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6849C55-E8D1-4B4D-BDC4-70920F738A6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2860F0E-674E-4B34-BA4C-88FA0FFC86E8}">
      <dgm:prSet/>
      <dgm:spPr/>
      <dgm:t>
        <a:bodyPr/>
        <a:lstStyle/>
        <a:p>
          <a:r>
            <a:rPr lang="en-US" b="1" i="0" baseline="0"/>
            <a:t>Summary</a:t>
          </a:r>
          <a:r>
            <a:rPr lang="en-US" b="0" i="0" baseline="0"/>
            <a:t>: We have developed a tool that provides an 81% accuracy rate in identifying at-risk clients, directly supporting a data-backed customer retention strategy.</a:t>
          </a:r>
          <a:endParaRPr lang="en-US"/>
        </a:p>
      </dgm:t>
    </dgm:pt>
    <dgm:pt modelId="{54548B1E-7460-4D91-AE7D-98EA1D7F5728}" type="parTrans" cxnId="{6CBDEC88-ABAA-4B3E-9EDC-95C9D81D5D5D}">
      <dgm:prSet/>
      <dgm:spPr/>
      <dgm:t>
        <a:bodyPr/>
        <a:lstStyle/>
        <a:p>
          <a:endParaRPr lang="en-US"/>
        </a:p>
      </dgm:t>
    </dgm:pt>
    <dgm:pt modelId="{C23D2EEF-7176-4D02-B345-FBEBA3EF9F45}" type="sibTrans" cxnId="{6CBDEC88-ABAA-4B3E-9EDC-95C9D81D5D5D}">
      <dgm:prSet/>
      <dgm:spPr/>
      <dgm:t>
        <a:bodyPr/>
        <a:lstStyle/>
        <a:p>
          <a:endParaRPr lang="en-US"/>
        </a:p>
      </dgm:t>
    </dgm:pt>
    <dgm:pt modelId="{DBB98A6C-2FFA-4074-8CF6-2FEC47A61899}">
      <dgm:prSet/>
      <dgm:spPr/>
      <dgm:t>
        <a:bodyPr/>
        <a:lstStyle/>
        <a:p>
          <a:r>
            <a:rPr lang="en-US" b="1" i="0" baseline="0"/>
            <a:t>Call to Action</a:t>
          </a:r>
          <a:r>
            <a:rPr lang="en-US" b="0" i="0" baseline="0"/>
            <a:t>: Let's integrate these insights into the CRM to start reducing churn this quarter.</a:t>
          </a:r>
          <a:endParaRPr lang="en-US"/>
        </a:p>
      </dgm:t>
    </dgm:pt>
    <dgm:pt modelId="{0B5633B6-3ED2-4592-A029-0A02F0391FDF}" type="parTrans" cxnId="{75233D1C-AF6A-4249-8316-7A59F853BD27}">
      <dgm:prSet/>
      <dgm:spPr/>
      <dgm:t>
        <a:bodyPr/>
        <a:lstStyle/>
        <a:p>
          <a:endParaRPr lang="en-US"/>
        </a:p>
      </dgm:t>
    </dgm:pt>
    <dgm:pt modelId="{70FD7D9D-89F7-49B0-993D-3EBC5F42C7DF}" type="sibTrans" cxnId="{75233D1C-AF6A-4249-8316-7A59F853BD27}">
      <dgm:prSet/>
      <dgm:spPr/>
      <dgm:t>
        <a:bodyPr/>
        <a:lstStyle/>
        <a:p>
          <a:endParaRPr lang="en-US"/>
        </a:p>
      </dgm:t>
    </dgm:pt>
    <dgm:pt modelId="{9EF9B5BE-9943-4941-8B2A-C554D900B1B2}">
      <dgm:prSet/>
      <dgm:spPr/>
      <dgm:t>
        <a:bodyPr/>
        <a:lstStyle/>
        <a:p>
          <a:r>
            <a:rPr lang="en-US" b="1" i="0" baseline="0"/>
            <a:t>Questions?</a:t>
          </a:r>
          <a:endParaRPr lang="en-US"/>
        </a:p>
      </dgm:t>
    </dgm:pt>
    <dgm:pt modelId="{64FC9628-5583-4BBC-A8DF-591D79A76BDF}" type="parTrans" cxnId="{AB19E1DF-7D70-4691-8EE1-AB0B80954D8E}">
      <dgm:prSet/>
      <dgm:spPr/>
      <dgm:t>
        <a:bodyPr/>
        <a:lstStyle/>
        <a:p>
          <a:endParaRPr lang="en-US"/>
        </a:p>
      </dgm:t>
    </dgm:pt>
    <dgm:pt modelId="{44A62CF4-FFA8-406C-8FF8-5712D58239C6}" type="sibTrans" cxnId="{AB19E1DF-7D70-4691-8EE1-AB0B80954D8E}">
      <dgm:prSet/>
      <dgm:spPr/>
      <dgm:t>
        <a:bodyPr/>
        <a:lstStyle/>
        <a:p>
          <a:endParaRPr lang="en-US"/>
        </a:p>
      </dgm:t>
    </dgm:pt>
    <dgm:pt modelId="{475A23C6-6428-4748-932E-1FC91466454A}" type="pres">
      <dgm:prSet presAssocID="{E6849C55-E8D1-4B4D-BDC4-70920F738A6D}" presName="root" presStyleCnt="0">
        <dgm:presLayoutVars>
          <dgm:dir/>
          <dgm:resizeHandles val="exact"/>
        </dgm:presLayoutVars>
      </dgm:prSet>
      <dgm:spPr/>
    </dgm:pt>
    <dgm:pt modelId="{D4C83C2C-23DB-492D-8AA4-5E7CDC84C992}" type="pres">
      <dgm:prSet presAssocID="{42860F0E-674E-4B34-BA4C-88FA0FFC86E8}" presName="compNode" presStyleCnt="0"/>
      <dgm:spPr/>
    </dgm:pt>
    <dgm:pt modelId="{8596BD4F-B3AC-442C-8C43-7AFA14D8B5E3}" type="pres">
      <dgm:prSet presAssocID="{42860F0E-674E-4B34-BA4C-88FA0FFC86E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ADB0F51-F7DC-4001-86C1-39945B6E098F}" type="pres">
      <dgm:prSet presAssocID="{42860F0E-674E-4B34-BA4C-88FA0FFC86E8}" presName="spaceRect" presStyleCnt="0"/>
      <dgm:spPr/>
    </dgm:pt>
    <dgm:pt modelId="{94133E38-9FC2-4267-80CF-C898D0E5DCD2}" type="pres">
      <dgm:prSet presAssocID="{42860F0E-674E-4B34-BA4C-88FA0FFC86E8}" presName="textRect" presStyleLbl="revTx" presStyleIdx="0" presStyleCnt="3">
        <dgm:presLayoutVars>
          <dgm:chMax val="1"/>
          <dgm:chPref val="1"/>
        </dgm:presLayoutVars>
      </dgm:prSet>
      <dgm:spPr/>
    </dgm:pt>
    <dgm:pt modelId="{74A3B600-8900-45D7-BC95-CB88B497A995}" type="pres">
      <dgm:prSet presAssocID="{C23D2EEF-7176-4D02-B345-FBEBA3EF9F45}" presName="sibTrans" presStyleCnt="0"/>
      <dgm:spPr/>
    </dgm:pt>
    <dgm:pt modelId="{0E76ECFC-7867-4B0E-8A62-E787C9E3BACB}" type="pres">
      <dgm:prSet presAssocID="{DBB98A6C-2FFA-4074-8CF6-2FEC47A61899}" presName="compNode" presStyleCnt="0"/>
      <dgm:spPr/>
    </dgm:pt>
    <dgm:pt modelId="{71C2EDB8-A001-4008-B70B-E254394B86BF}" type="pres">
      <dgm:prSet presAssocID="{DBB98A6C-2FFA-4074-8CF6-2FEC47A6189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FC8656CA-A98F-4C16-8E88-AD9CB59ECCB1}" type="pres">
      <dgm:prSet presAssocID="{DBB98A6C-2FFA-4074-8CF6-2FEC47A61899}" presName="spaceRect" presStyleCnt="0"/>
      <dgm:spPr/>
    </dgm:pt>
    <dgm:pt modelId="{D8378B93-BE0F-494D-BF7D-614E9A3A4B4B}" type="pres">
      <dgm:prSet presAssocID="{DBB98A6C-2FFA-4074-8CF6-2FEC47A61899}" presName="textRect" presStyleLbl="revTx" presStyleIdx="1" presStyleCnt="3">
        <dgm:presLayoutVars>
          <dgm:chMax val="1"/>
          <dgm:chPref val="1"/>
        </dgm:presLayoutVars>
      </dgm:prSet>
      <dgm:spPr/>
    </dgm:pt>
    <dgm:pt modelId="{0B53B4AC-A80B-480B-ABDD-8EC79F8B1F16}" type="pres">
      <dgm:prSet presAssocID="{70FD7D9D-89F7-49B0-993D-3EBC5F42C7DF}" presName="sibTrans" presStyleCnt="0"/>
      <dgm:spPr/>
    </dgm:pt>
    <dgm:pt modelId="{3A0771E5-20E4-49FB-B8A3-BFD6A42D3489}" type="pres">
      <dgm:prSet presAssocID="{9EF9B5BE-9943-4941-8B2A-C554D900B1B2}" presName="compNode" presStyleCnt="0"/>
      <dgm:spPr/>
    </dgm:pt>
    <dgm:pt modelId="{F09861AA-159F-42FF-82DC-05A8D167AD36}" type="pres">
      <dgm:prSet presAssocID="{9EF9B5BE-9943-4941-8B2A-C554D900B1B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F1FF30AB-A1F4-4682-88C0-02DE2FC10B53}" type="pres">
      <dgm:prSet presAssocID="{9EF9B5BE-9943-4941-8B2A-C554D900B1B2}" presName="spaceRect" presStyleCnt="0"/>
      <dgm:spPr/>
    </dgm:pt>
    <dgm:pt modelId="{E6E1621A-1C72-4F9F-B144-EBC8DC7BD96C}" type="pres">
      <dgm:prSet presAssocID="{9EF9B5BE-9943-4941-8B2A-C554D900B1B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5233D1C-AF6A-4249-8316-7A59F853BD27}" srcId="{E6849C55-E8D1-4B4D-BDC4-70920F738A6D}" destId="{DBB98A6C-2FFA-4074-8CF6-2FEC47A61899}" srcOrd="1" destOrd="0" parTransId="{0B5633B6-3ED2-4592-A029-0A02F0391FDF}" sibTransId="{70FD7D9D-89F7-49B0-993D-3EBC5F42C7DF}"/>
    <dgm:cxn modelId="{563AB220-E014-44A7-8E1E-1611C78857A2}" type="presOf" srcId="{9EF9B5BE-9943-4941-8B2A-C554D900B1B2}" destId="{E6E1621A-1C72-4F9F-B144-EBC8DC7BD96C}" srcOrd="0" destOrd="0" presId="urn:microsoft.com/office/officeart/2018/2/layout/IconLabelList"/>
    <dgm:cxn modelId="{6CBDEC88-ABAA-4B3E-9EDC-95C9D81D5D5D}" srcId="{E6849C55-E8D1-4B4D-BDC4-70920F738A6D}" destId="{42860F0E-674E-4B34-BA4C-88FA0FFC86E8}" srcOrd="0" destOrd="0" parTransId="{54548B1E-7460-4D91-AE7D-98EA1D7F5728}" sibTransId="{C23D2EEF-7176-4D02-B345-FBEBA3EF9F45}"/>
    <dgm:cxn modelId="{F754B4CC-021F-449F-8663-BC9A6CF63D3A}" type="presOf" srcId="{E6849C55-E8D1-4B4D-BDC4-70920F738A6D}" destId="{475A23C6-6428-4748-932E-1FC91466454A}" srcOrd="0" destOrd="0" presId="urn:microsoft.com/office/officeart/2018/2/layout/IconLabelList"/>
    <dgm:cxn modelId="{AB19E1DF-7D70-4691-8EE1-AB0B80954D8E}" srcId="{E6849C55-E8D1-4B4D-BDC4-70920F738A6D}" destId="{9EF9B5BE-9943-4941-8B2A-C554D900B1B2}" srcOrd="2" destOrd="0" parTransId="{64FC9628-5583-4BBC-A8DF-591D79A76BDF}" sibTransId="{44A62CF4-FFA8-406C-8FF8-5712D58239C6}"/>
    <dgm:cxn modelId="{E2C881E2-7447-42C8-B666-965167A95DA6}" type="presOf" srcId="{DBB98A6C-2FFA-4074-8CF6-2FEC47A61899}" destId="{D8378B93-BE0F-494D-BF7D-614E9A3A4B4B}" srcOrd="0" destOrd="0" presId="urn:microsoft.com/office/officeart/2018/2/layout/IconLabelList"/>
    <dgm:cxn modelId="{745CCDFB-4C98-4BE2-A48B-33C110EE763D}" type="presOf" srcId="{42860F0E-674E-4B34-BA4C-88FA0FFC86E8}" destId="{94133E38-9FC2-4267-80CF-C898D0E5DCD2}" srcOrd="0" destOrd="0" presId="urn:microsoft.com/office/officeart/2018/2/layout/IconLabelList"/>
    <dgm:cxn modelId="{5BD241D6-C4E4-4D87-9575-61C0CEABF000}" type="presParOf" srcId="{475A23C6-6428-4748-932E-1FC91466454A}" destId="{D4C83C2C-23DB-492D-8AA4-5E7CDC84C992}" srcOrd="0" destOrd="0" presId="urn:microsoft.com/office/officeart/2018/2/layout/IconLabelList"/>
    <dgm:cxn modelId="{2B62DEFD-3014-463A-9F94-65926D79C69F}" type="presParOf" srcId="{D4C83C2C-23DB-492D-8AA4-5E7CDC84C992}" destId="{8596BD4F-B3AC-442C-8C43-7AFA14D8B5E3}" srcOrd="0" destOrd="0" presId="urn:microsoft.com/office/officeart/2018/2/layout/IconLabelList"/>
    <dgm:cxn modelId="{0F9BD791-9779-497D-85BA-DAFA2FED6DF6}" type="presParOf" srcId="{D4C83C2C-23DB-492D-8AA4-5E7CDC84C992}" destId="{FADB0F51-F7DC-4001-86C1-39945B6E098F}" srcOrd="1" destOrd="0" presId="urn:microsoft.com/office/officeart/2018/2/layout/IconLabelList"/>
    <dgm:cxn modelId="{EA29D64F-B9C7-4568-AB52-DEF1F151480B}" type="presParOf" srcId="{D4C83C2C-23DB-492D-8AA4-5E7CDC84C992}" destId="{94133E38-9FC2-4267-80CF-C898D0E5DCD2}" srcOrd="2" destOrd="0" presId="urn:microsoft.com/office/officeart/2018/2/layout/IconLabelList"/>
    <dgm:cxn modelId="{D4948B19-05B2-48BB-8A26-FCF0040B448F}" type="presParOf" srcId="{475A23C6-6428-4748-932E-1FC91466454A}" destId="{74A3B600-8900-45D7-BC95-CB88B497A995}" srcOrd="1" destOrd="0" presId="urn:microsoft.com/office/officeart/2018/2/layout/IconLabelList"/>
    <dgm:cxn modelId="{D40A2960-906C-4D58-A914-CB1C687AF549}" type="presParOf" srcId="{475A23C6-6428-4748-932E-1FC91466454A}" destId="{0E76ECFC-7867-4B0E-8A62-E787C9E3BACB}" srcOrd="2" destOrd="0" presId="urn:microsoft.com/office/officeart/2018/2/layout/IconLabelList"/>
    <dgm:cxn modelId="{4685268C-D25E-4E96-85B1-B16F6F31C59F}" type="presParOf" srcId="{0E76ECFC-7867-4B0E-8A62-E787C9E3BACB}" destId="{71C2EDB8-A001-4008-B70B-E254394B86BF}" srcOrd="0" destOrd="0" presId="urn:microsoft.com/office/officeart/2018/2/layout/IconLabelList"/>
    <dgm:cxn modelId="{74630F30-4F09-4789-8E70-E55192153332}" type="presParOf" srcId="{0E76ECFC-7867-4B0E-8A62-E787C9E3BACB}" destId="{FC8656CA-A98F-4C16-8E88-AD9CB59ECCB1}" srcOrd="1" destOrd="0" presId="urn:microsoft.com/office/officeart/2018/2/layout/IconLabelList"/>
    <dgm:cxn modelId="{D626E6D7-7818-4543-BB41-26F17ABA7DD9}" type="presParOf" srcId="{0E76ECFC-7867-4B0E-8A62-E787C9E3BACB}" destId="{D8378B93-BE0F-494D-BF7D-614E9A3A4B4B}" srcOrd="2" destOrd="0" presId="urn:microsoft.com/office/officeart/2018/2/layout/IconLabelList"/>
    <dgm:cxn modelId="{DD4A82EB-C1A5-4E1B-A83A-390AEE81C8B3}" type="presParOf" srcId="{475A23C6-6428-4748-932E-1FC91466454A}" destId="{0B53B4AC-A80B-480B-ABDD-8EC79F8B1F16}" srcOrd="3" destOrd="0" presId="urn:microsoft.com/office/officeart/2018/2/layout/IconLabelList"/>
    <dgm:cxn modelId="{B56A5B23-3D92-4826-84C0-DF7DEAC5AA45}" type="presParOf" srcId="{475A23C6-6428-4748-932E-1FC91466454A}" destId="{3A0771E5-20E4-49FB-B8A3-BFD6A42D3489}" srcOrd="4" destOrd="0" presId="urn:microsoft.com/office/officeart/2018/2/layout/IconLabelList"/>
    <dgm:cxn modelId="{E0D2F234-49F8-4B67-BD06-C595D7782ACB}" type="presParOf" srcId="{3A0771E5-20E4-49FB-B8A3-BFD6A42D3489}" destId="{F09861AA-159F-42FF-82DC-05A8D167AD36}" srcOrd="0" destOrd="0" presId="urn:microsoft.com/office/officeart/2018/2/layout/IconLabelList"/>
    <dgm:cxn modelId="{992528B5-B9F4-445A-A336-94067CA27198}" type="presParOf" srcId="{3A0771E5-20E4-49FB-B8A3-BFD6A42D3489}" destId="{F1FF30AB-A1F4-4682-88C0-02DE2FC10B53}" srcOrd="1" destOrd="0" presId="urn:microsoft.com/office/officeart/2018/2/layout/IconLabelList"/>
    <dgm:cxn modelId="{F2BAAAF8-B6BD-4843-A693-8A79D01509FC}" type="presParOf" srcId="{3A0771E5-20E4-49FB-B8A3-BFD6A42D3489}" destId="{E6E1621A-1C72-4F9F-B144-EBC8DC7BD96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45C328-5B20-46EC-874B-45684C0AAE63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0E05FF-1F87-4D91-876C-74920C70BECC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Goal</a:t>
          </a:r>
          <a:r>
            <a:rPr lang="en-US" sz="1700" b="0" i="0" kern="1200" baseline="0"/>
            <a:t>: To build a predictive model that identifies customers at high risk of leaving (churning).</a:t>
          </a:r>
          <a:endParaRPr lang="en-US" sz="1700" kern="1200"/>
        </a:p>
      </dsp:txBody>
      <dsp:txXfrm>
        <a:off x="398656" y="1088253"/>
        <a:ext cx="2959127" cy="1837317"/>
      </dsp:txXfrm>
    </dsp:sp>
    <dsp:sp modelId="{9199EEA4-1ABC-4BDD-AD42-5A876714A98D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FF566A-1E9E-4728-8330-C57E2B73AEC7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Value Proposition</a:t>
          </a:r>
          <a:r>
            <a:rPr lang="en-US" sz="1700" b="0" i="0" kern="1200" baseline="0"/>
            <a:t>: By predicting churn before it happens, the company can proactively intervene with targeted retention offers, saving revenue and reducing customer acquisition costs.</a:t>
          </a:r>
          <a:endParaRPr lang="en-US" sz="1700" kern="1200"/>
        </a:p>
      </dsp:txBody>
      <dsp:txXfrm>
        <a:off x="4155097" y="1088253"/>
        <a:ext cx="2959127" cy="1837317"/>
      </dsp:txXfrm>
    </dsp:sp>
    <dsp:sp modelId="{4E510701-6CCF-46A3-B851-AAC726E32B6B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E150E-D2BA-4C3E-B986-E3BBAB8535FE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Key Finding</a:t>
          </a:r>
          <a:r>
            <a:rPr lang="en-US" sz="1700" b="0" i="0" kern="1200" baseline="0"/>
            <a:t>: Our models can successfully distinguish between loyal and at-risk clients 81% of the time.</a:t>
          </a:r>
          <a:endParaRPr lang="en-US" sz="1700" kern="1200"/>
        </a:p>
      </dsp:txBody>
      <dsp:txXfrm>
        <a:off x="7911539" y="108825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9B4084-67CA-4533-833F-8610CC0A787D}">
      <dsp:nvSpPr>
        <dsp:cNvPr id="0" name=""/>
        <dsp:cNvSpPr/>
      </dsp:nvSpPr>
      <dsp:spPr>
        <a:xfrm>
          <a:off x="0" y="0"/>
          <a:ext cx="3286125" cy="4351338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Pilot Program</a:t>
          </a:r>
          <a:r>
            <a:rPr lang="en-US" sz="1900" b="0" i="0" kern="1200" baseline="0"/>
            <a:t>: Deploy the Decision Tree model on a small subset of current customers to test real-world predictive accuracy.</a:t>
          </a:r>
          <a:endParaRPr lang="en-US" sz="1900" kern="1200"/>
        </a:p>
      </dsp:txBody>
      <dsp:txXfrm>
        <a:off x="0" y="1653508"/>
        <a:ext cx="3286125" cy="2610802"/>
      </dsp:txXfrm>
    </dsp:sp>
    <dsp:sp modelId="{B0AE31B9-B540-49C4-A7D7-986044CF6C5C}">
      <dsp:nvSpPr>
        <dsp:cNvPr id="0" name=""/>
        <dsp:cNvSpPr/>
      </dsp:nvSpPr>
      <dsp:spPr>
        <a:xfrm>
          <a:off x="990361" y="435133"/>
          <a:ext cx="1305401" cy="130540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81533" y="626305"/>
        <a:ext cx="923057" cy="923057"/>
      </dsp:txXfrm>
    </dsp:sp>
    <dsp:sp modelId="{1CB9765D-6D2F-4FF1-9996-25B191ACC740}">
      <dsp:nvSpPr>
        <dsp:cNvPr id="0" name=""/>
        <dsp:cNvSpPr/>
      </dsp:nvSpPr>
      <dsp:spPr>
        <a:xfrm>
          <a:off x="0" y="4351266"/>
          <a:ext cx="3286125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12BDB3-2C33-4011-AAAF-56ADA0001922}">
      <dsp:nvSpPr>
        <dsp:cNvPr id="0" name=""/>
        <dsp:cNvSpPr/>
      </dsp:nvSpPr>
      <dsp:spPr>
        <a:xfrm>
          <a:off x="3614737" y="0"/>
          <a:ext cx="3286125" cy="4351338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Proactive Retention</a:t>
          </a:r>
          <a:r>
            <a:rPr lang="en-US" sz="1900" b="0" i="0" kern="1200" baseline="0"/>
            <a:t>: Equip the customer service team with "Save Desk" offers specifically for customers flagged by the model.</a:t>
          </a:r>
          <a:endParaRPr lang="en-US" sz="1900" kern="1200"/>
        </a:p>
      </dsp:txBody>
      <dsp:txXfrm>
        <a:off x="3614737" y="1653508"/>
        <a:ext cx="3286125" cy="2610802"/>
      </dsp:txXfrm>
    </dsp:sp>
    <dsp:sp modelId="{FAD268F4-68BD-4608-817C-4AC11DB0C075}">
      <dsp:nvSpPr>
        <dsp:cNvPr id="0" name=""/>
        <dsp:cNvSpPr/>
      </dsp:nvSpPr>
      <dsp:spPr>
        <a:xfrm>
          <a:off x="4605099" y="435133"/>
          <a:ext cx="1305401" cy="130540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796271" y="626305"/>
        <a:ext cx="923057" cy="923057"/>
      </dsp:txXfrm>
    </dsp:sp>
    <dsp:sp modelId="{E8A258B5-7BCA-4565-8454-AA2F68662659}">
      <dsp:nvSpPr>
        <dsp:cNvPr id="0" name=""/>
        <dsp:cNvSpPr/>
      </dsp:nvSpPr>
      <dsp:spPr>
        <a:xfrm>
          <a:off x="3614737" y="4351266"/>
          <a:ext cx="3286125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2204A4-7B3D-4B96-BF40-17070B883589}">
      <dsp:nvSpPr>
        <dsp:cNvPr id="0" name=""/>
        <dsp:cNvSpPr/>
      </dsp:nvSpPr>
      <dsp:spPr>
        <a:xfrm>
          <a:off x="7229475" y="0"/>
          <a:ext cx="3286125" cy="4351338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Feedback Loop</a:t>
          </a:r>
          <a:r>
            <a:rPr lang="en-US" sz="1900" b="0" i="0" kern="1200" baseline="0"/>
            <a:t>: Regularly update the model with new customer data to account for changing market trends and competitor offers.</a:t>
          </a:r>
          <a:endParaRPr lang="en-US" sz="1900" kern="1200"/>
        </a:p>
      </dsp:txBody>
      <dsp:txXfrm>
        <a:off x="7229475" y="1653508"/>
        <a:ext cx="3286125" cy="2610802"/>
      </dsp:txXfrm>
    </dsp:sp>
    <dsp:sp modelId="{4F948363-9382-4E78-BECA-97915909D6C6}">
      <dsp:nvSpPr>
        <dsp:cNvPr id="0" name=""/>
        <dsp:cNvSpPr/>
      </dsp:nvSpPr>
      <dsp:spPr>
        <a:xfrm>
          <a:off x="8219836" y="435133"/>
          <a:ext cx="1305401" cy="130540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11008" y="626305"/>
        <a:ext cx="923057" cy="923057"/>
      </dsp:txXfrm>
    </dsp:sp>
    <dsp:sp modelId="{BE203DF7-E6CB-4B6E-8F43-14C17DD996F2}">
      <dsp:nvSpPr>
        <dsp:cNvPr id="0" name=""/>
        <dsp:cNvSpPr/>
      </dsp:nvSpPr>
      <dsp:spPr>
        <a:xfrm>
          <a:off x="7229475" y="4351266"/>
          <a:ext cx="3286125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96BD4F-B3AC-442C-8C43-7AFA14D8B5E3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133E38-9FC2-4267-80CF-C898D0E5DCD2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/>
            <a:t>Summary</a:t>
          </a:r>
          <a:r>
            <a:rPr lang="en-US" sz="1200" b="0" i="0" kern="1200" baseline="0"/>
            <a:t>: We have developed a tool that provides an 81% accuracy rate in identifying at-risk clients, directly supporting a data-backed customer retention strategy.</a:t>
          </a:r>
          <a:endParaRPr lang="en-US" sz="1200" kern="1200"/>
        </a:p>
      </dsp:txBody>
      <dsp:txXfrm>
        <a:off x="59990" y="2654049"/>
        <a:ext cx="3226223" cy="720000"/>
      </dsp:txXfrm>
    </dsp:sp>
    <dsp:sp modelId="{71C2EDB8-A001-4008-B70B-E254394B86BF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378B93-BE0F-494D-BF7D-614E9A3A4B4B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/>
            <a:t>Call to Action</a:t>
          </a:r>
          <a:r>
            <a:rPr lang="en-US" sz="1200" b="0" i="0" kern="1200" baseline="0"/>
            <a:t>: Let's integrate these insights into the CRM to start reducing churn this quarter.</a:t>
          </a:r>
          <a:endParaRPr lang="en-US" sz="1200" kern="1200"/>
        </a:p>
      </dsp:txBody>
      <dsp:txXfrm>
        <a:off x="3850802" y="2654049"/>
        <a:ext cx="3226223" cy="720000"/>
      </dsp:txXfrm>
    </dsp:sp>
    <dsp:sp modelId="{F09861AA-159F-42FF-82DC-05A8D167AD36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E1621A-1C72-4F9F-B144-EBC8DC7BD96C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/>
            <a:t>Questions?</a:t>
          </a:r>
          <a:endParaRPr lang="en-US" sz="1200" kern="1200"/>
        </a:p>
      </dsp:txBody>
      <dsp:txXfrm>
        <a:off x="7641615" y="2654049"/>
        <a:ext cx="322622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53DB2-1C06-1AD3-8BEE-136A51625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E09796-5754-4AEC-5A41-37879AF7C8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BB108-584B-493B-31F4-3A4725B60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4382-AFD0-4363-8821-A2A05644E175}" type="datetimeFigureOut">
              <a:rPr lang="en-ZA" smtClean="0"/>
              <a:t>2026/02/13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E76AF-ECC0-F417-D9B7-D1C708979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6C0BF-F7C5-4E1B-1CAD-80CD04C17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8F09B-6343-49BC-A873-735A2ED6157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6168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52F07-C70A-E1D3-EB6C-D8FA25D89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1850A-B0B4-5E52-F8EC-701A136AA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44AE2-6915-4C2C-8B02-5A7BA1BE0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4382-AFD0-4363-8821-A2A05644E175}" type="datetimeFigureOut">
              <a:rPr lang="en-ZA" smtClean="0"/>
              <a:t>2026/02/13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7B4EF-B740-0A9C-977A-6BBE91160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E4C41-E37F-7B82-CE92-32A7FCDAE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8F09B-6343-49BC-A873-735A2ED6157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3274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0A9B-8832-C28D-7224-D2DBA244E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AB448-A081-0A73-5AE5-DFE2584BD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A63DC-03B2-8F31-231A-1DFB7A96E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4382-AFD0-4363-8821-A2A05644E175}" type="datetimeFigureOut">
              <a:rPr lang="en-ZA" smtClean="0"/>
              <a:t>2026/02/13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9509D-5AB5-88E3-5219-277F213BA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281A-9288-BFB7-FB70-D4A38D5B8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8F09B-6343-49BC-A873-735A2ED6157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18152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1178F-9A99-8A77-EBBD-D3248A256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DE574-A7DC-917B-34D4-CAF154B60F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683A1-091D-90AF-9FAB-75258F0E3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4F0F4-DC67-3DBA-EFB4-3410110A0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4382-AFD0-4363-8821-A2A05644E175}" type="datetimeFigureOut">
              <a:rPr lang="en-ZA" smtClean="0"/>
              <a:t>2026/02/13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9A875-2942-EB34-AFC3-F94FA6947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FD38D-D225-F012-8F31-26B7B884F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8F09B-6343-49BC-A873-735A2ED6157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92727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9D3AF-6553-2388-6A44-5C25136A7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F9B27-3ED8-D4C8-7669-7291ACFE8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3EAB95-06F2-29A1-FEE0-B171E9A28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FBF08B-F01D-CC03-ADEF-8D5B23823F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72A61C-C279-12CA-9734-0C397ABD3D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8145E3-3111-AE65-41A7-82F1DBA5B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4382-AFD0-4363-8821-A2A05644E175}" type="datetimeFigureOut">
              <a:rPr lang="en-ZA" smtClean="0"/>
              <a:t>2026/02/13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EDFFCC-8F78-315C-4C18-E0321140B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D256E1-80C8-F8D9-6837-2635DBD05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8F09B-6343-49BC-A873-735A2ED6157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1106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D8DD3-2C03-E050-3583-44E2A4DBF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DBA49A-5A31-C81B-217B-62E0B203D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4382-AFD0-4363-8821-A2A05644E175}" type="datetimeFigureOut">
              <a:rPr lang="en-ZA" smtClean="0"/>
              <a:t>2026/02/13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3C564C-F5C5-320D-17AF-3C0AEB861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A56BD9-956B-E7FC-1378-91C5AC93A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8F09B-6343-49BC-A873-735A2ED6157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0847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0D7115-D216-C3C2-2E37-82159B584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4382-AFD0-4363-8821-A2A05644E175}" type="datetimeFigureOut">
              <a:rPr lang="en-ZA" smtClean="0"/>
              <a:t>2026/02/13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D7350B-047F-C9C0-532E-544B7D28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20DCF-4132-A686-1923-E0284C224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8F09B-6343-49BC-A873-735A2ED6157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4189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24EAD-A4EA-1098-7383-0055B5FE0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3598B-3979-5A77-04EC-689CF8806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24B6B-757B-C199-0908-4B52363D5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B510A-6441-0201-156B-F0523318F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4382-AFD0-4363-8821-A2A05644E175}" type="datetimeFigureOut">
              <a:rPr lang="en-ZA" smtClean="0"/>
              <a:t>2026/02/13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FFBC1-14D1-FE38-5FEE-A0D20AD57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07CC6-8CA2-C197-6AF7-A984D34EC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8F09B-6343-49BC-A873-735A2ED6157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81595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C4631-F581-973B-C427-9EAEB875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6EF7F6-098A-1F02-C515-4A7A213F00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09732-4838-5175-CF40-20CBECB726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68563-9F74-51AB-CCEF-A7373A36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4382-AFD0-4363-8821-A2A05644E175}" type="datetimeFigureOut">
              <a:rPr lang="en-ZA" smtClean="0"/>
              <a:t>2026/02/13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70259-649B-E5D5-B211-83643CCC9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22A703-1D0D-6C1B-1692-81B84CF4E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8F09B-6343-49BC-A873-735A2ED6157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9230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A50DC-1EDC-37A9-110A-CF32DD71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A16542-61BC-516F-5D02-E6039F0DB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E6A48-290B-B83A-6602-41FAD9BA1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4382-AFD0-4363-8821-A2A05644E175}" type="datetimeFigureOut">
              <a:rPr lang="en-ZA" smtClean="0"/>
              <a:t>2026/02/13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B8784-A8FB-A2BF-2963-7372C6840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9928A-7292-EDA3-3656-CDA526EB2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8F09B-6343-49BC-A873-735A2ED6157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13393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419CBE-B2BE-C49B-0E2D-87DD4A84EA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519681-8E31-27C9-3192-940E00221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3FDD1-1BBD-8D88-9FC6-2A82A6D83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4382-AFD0-4363-8821-A2A05644E175}" type="datetimeFigureOut">
              <a:rPr lang="en-ZA" smtClean="0"/>
              <a:t>2026/02/13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2A384-A03B-EAF2-3196-A3B1E2EEA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7F44E-EB16-31DD-3917-9764F7EEC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8F09B-6343-49BC-A873-735A2ED6157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30103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6172C9-C7E0-2039-F9B8-54274B791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3F00D-1483-E6A7-4F66-E6ED3B646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DE9FC-B28B-8208-90CD-E90FD5CB0B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F84382-AFD0-4363-8821-A2A05644E175}" type="datetimeFigureOut">
              <a:rPr lang="en-ZA" smtClean="0"/>
              <a:t>2026/02/13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B7F81-A01B-B8FE-0229-EB4FFB7CB0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B4574-C19F-A27E-8C35-6EB97700E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08F09B-6343-49BC-A873-735A2ED6157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48708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" name="Rectangle 20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B80596-E6E3-3DDF-CB23-DEB8AE59D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ZA" sz="4400" dirty="0">
                <a:solidFill>
                  <a:srgbClr val="FFFFFF"/>
                </a:solidFill>
              </a:rPr>
              <a:t>Reducing Customer Churn: A Data-Driven Retention StrategyReducing Customer Churn: A Data-Driven Retention Strategy</a:t>
            </a:r>
            <a:endParaRPr lang="en-ZA" sz="4400">
              <a:solidFill>
                <a:srgbClr val="FFFFFF"/>
              </a:solidFill>
            </a:endParaRP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3104F-55BC-BC52-DC62-C4E986F57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ZA" dirty="0">
                <a:solidFill>
                  <a:srgbClr val="FFFFFF"/>
                </a:solidFill>
              </a:rPr>
              <a:t>By : Yvonne Rajula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05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ED1A06-A6CA-4C9B-D9DC-7D7B606C2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ZA" sz="4000">
                <a:solidFill>
                  <a:srgbClr val="FFFFFF"/>
                </a:solidFill>
              </a:rPr>
              <a:t>Overview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B9A0AFE-0C94-CD48-8815-F741670587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344455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1955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51D65E-2F3F-FE28-29B8-6560D2329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ZA" sz="4000">
                <a:solidFill>
                  <a:srgbClr val="FFFFFF"/>
                </a:solidFill>
              </a:rPr>
              <a:t>Business and Data Understanding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601F27-1740-1A84-780A-D0A7B5C849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Problem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Customer churn directly impacts the bottom line. Understanding </a:t>
            </a:r>
            <a:r>
              <a:rPr kumimoji="0" lang="en-US" altLang="en-US" sz="20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why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who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is leaving is critical for growth.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Data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Analyzed 3,333 customer records containing 21 features, including: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Usage Patterns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Day, evening, and international call minutes/charges.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Account Details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Account length, area codes, and specific service plans (International/Voice Mail).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Customer Feedback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Number of customer service calls made.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 Insight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Only ~14.5% of customers in the dataset churned, requiring specialized techniques (like SMOTE) to ensure the model could recognize this minority group accurately.</a:t>
            </a:r>
          </a:p>
        </p:txBody>
      </p:sp>
    </p:spTree>
    <p:extLst>
      <p:ext uri="{BB962C8B-B14F-4D97-AF65-F5344CB8AC3E}">
        <p14:creationId xmlns:p14="http://schemas.microsoft.com/office/powerpoint/2010/main" val="4006150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A8CB63-6F1A-5852-7336-E5A625C90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ZA" sz="4000">
                <a:solidFill>
                  <a:srgbClr val="FFFFFF"/>
                </a:solidFill>
              </a:rPr>
              <a:t>Modeling Strategy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F05535-E92E-557B-93F2-BBA36A21D9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81727" y="649480"/>
            <a:ext cx="3025303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Approach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We tested two primary industry-standard methods to ensure reliability: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Logistic Regression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A statistical model used to determine the probability of an event (churn).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Decision Tree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A logic-based model that maps out customer characteristics to reach a prediction.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Ensuring Fairness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We utilized a "Pipeline" approach to standardize data and handle the imbalance in churned vs. non-churned customers, ensuring the results aren't biased toward the majority.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86DD7E-278F-7D97-EA5A-1978C5732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8391" y="2094884"/>
            <a:ext cx="3432296" cy="328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436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682CA6-2580-E46B-B318-1BAAA49F7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ZA" sz="4000">
                <a:solidFill>
                  <a:srgbClr val="FFFFFF"/>
                </a:solidFill>
              </a:rPr>
              <a:t>Performance Evaluation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DBAB703-FFCF-5C41-1071-6A68FC6DB0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81727" y="649480"/>
            <a:ext cx="3025303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sz="1900" b="1">
                <a:latin typeface="Arial" panose="020B0604020202020204" pitchFamily="34" charset="0"/>
              </a:rPr>
              <a:t>S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uccess Metric (AUC)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Both models achieved an 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AUC of 0.81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What this means for you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models have "good discrimination ability".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 plain terms: If you pick one churned customer and one loyal customer at random, the model will correctly identify the at-risk customer 81% of the time.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Consistency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The identical performance across different model types confirms the stability of our predictions.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514577-3F5E-DDE0-300B-76146FC12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502" y="2029307"/>
            <a:ext cx="3615776" cy="281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584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4DAE3E-A5F1-2136-6317-ECC8813BC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ZA" sz="2800">
                <a:solidFill>
                  <a:srgbClr val="FFFFFF"/>
                </a:solidFill>
              </a:rPr>
              <a:t>Key Drivers of Churn (Recommendations)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53C84-5111-EBC4-F2EA-FEB3A101E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ZA" sz="2000"/>
              <a:t>Based on the data analysis, stakeholders should focus on:</a:t>
            </a:r>
          </a:p>
          <a:p>
            <a:r>
              <a:rPr lang="en-ZA" sz="2000" b="1"/>
              <a:t>Customer Service Interventions</a:t>
            </a:r>
            <a:r>
              <a:rPr lang="en-ZA" sz="2000"/>
              <a:t>: High correlation exists between customer service calls and churn. Customers calling frequently are likely frustrated and need immediate attention.</a:t>
            </a:r>
          </a:p>
          <a:p>
            <a:r>
              <a:rPr lang="en-ZA" sz="2000" b="1"/>
              <a:t>High Usage Costs</a:t>
            </a:r>
            <a:r>
              <a:rPr lang="en-ZA" sz="2000"/>
              <a:t>: Total day minutes and charges are significant indicators of churn. Consider offering "Unlimited" or "High-Volume" loyalty tiers for these power users.</a:t>
            </a:r>
          </a:p>
          <a:p>
            <a:r>
              <a:rPr lang="en-ZA" sz="2000" b="1"/>
              <a:t>Plan Optimization</a:t>
            </a:r>
            <a:r>
              <a:rPr lang="en-ZA" sz="2000"/>
              <a:t>: International plans and their associated charges should be reviewed to ensure they remain competitive.</a:t>
            </a:r>
          </a:p>
          <a:p>
            <a:endParaRPr lang="en-ZA" sz="2000"/>
          </a:p>
        </p:txBody>
      </p:sp>
    </p:spTree>
    <p:extLst>
      <p:ext uri="{BB962C8B-B14F-4D97-AF65-F5344CB8AC3E}">
        <p14:creationId xmlns:p14="http://schemas.microsoft.com/office/powerpoint/2010/main" val="1394999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64372DB9-BE36-4C32-1ACC-B77C47DFA52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7865" b="786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230AB7-BFDA-C73E-0626-6A5801341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ZA"/>
              <a:t>Next Steps</a:t>
            </a:r>
          </a:p>
        </p:txBody>
      </p:sp>
      <p:graphicFrame>
        <p:nvGraphicFramePr>
          <p:cNvPr id="23" name="Rectangle 1">
            <a:extLst>
              <a:ext uri="{FF2B5EF4-FFF2-40B4-BE49-F238E27FC236}">
                <a16:creationId xmlns:a16="http://schemas.microsoft.com/office/drawing/2014/main" id="{7035EE09-D102-019A-9994-540687CA53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264889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386950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0C6985-B965-1276-EF40-DBB5B0F76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ZA" sz="4000">
                <a:solidFill>
                  <a:srgbClr val="FFFFFF"/>
                </a:solidFill>
              </a:rPr>
              <a:t>Conclusion &amp; Thank You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291400F-C143-E47B-BBC3-F63F18AA2B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895174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9996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C7395-FB59-2FFB-F8BA-89A0792FF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ZA" sz="4000"/>
              <a:t>Slide Style Checklist Notes for the Presenter: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FD7B20-E22C-47E3-6CFB-E030EB0195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22081" y="1641752"/>
            <a:ext cx="5260975" cy="3960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Visuals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: Use the ROC curves and Confusion Matrices generated in the notebook as visuals for Slides 4 and 5, but label them in plain language (e.g., "Prediction Accuracy Map").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Text Density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: Keep bullet points to one line where possible to ensure the slides are light on text and easily readable.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41777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635</Words>
  <Application>Microsoft Office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Reducing Customer Churn: A Data-Driven Retention StrategyReducing Customer Churn: A Data-Driven Retention Strategy</vt:lpstr>
      <vt:lpstr>Overview</vt:lpstr>
      <vt:lpstr>Business and Data Understanding</vt:lpstr>
      <vt:lpstr>Modeling Strategy</vt:lpstr>
      <vt:lpstr>Performance Evaluation</vt:lpstr>
      <vt:lpstr>Key Drivers of Churn (Recommendations)</vt:lpstr>
      <vt:lpstr>Next Steps</vt:lpstr>
      <vt:lpstr>Conclusion &amp; Thank You</vt:lpstr>
      <vt:lpstr>Slide Style Checklist Notes for the Presenter:</vt:lpstr>
    </vt:vector>
  </TitlesOfParts>
  <Company>Standard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Rajula, Yvonne</dc:creator>
  <cp:lastModifiedBy>Rajula, Yvonne</cp:lastModifiedBy>
  <cp:revision>1</cp:revision>
  <dcterms:created xsi:type="dcterms:W3CDTF">2026-02-13T14:44:56Z</dcterms:created>
  <dcterms:modified xsi:type="dcterms:W3CDTF">2026-02-13T15:18:14Z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27a3850-2850-457c-8efb-fdd5fa4d27d3_Enabled">
    <vt:lpwstr>true</vt:lpwstr>
  </property>
  <property fmtid="{D5CDD505-2E9C-101B-9397-08002B2CF9AE}" pid="3" name="MSIP_Label_027a3850-2850-457c-8efb-fdd5fa4d27d3_SetDate">
    <vt:lpwstr>2026-02-13T15:17:58Z</vt:lpwstr>
  </property>
  <property fmtid="{D5CDD505-2E9C-101B-9397-08002B2CF9AE}" pid="4" name="MSIP_Label_027a3850-2850-457c-8efb-fdd5fa4d27d3_Method">
    <vt:lpwstr>Standard</vt:lpwstr>
  </property>
  <property fmtid="{D5CDD505-2E9C-101B-9397-08002B2CF9AE}" pid="5" name="MSIP_Label_027a3850-2850-457c-8efb-fdd5fa4d27d3_Name">
    <vt:lpwstr>027a3850-2850-457c-8efb-fdd5fa4d27d3</vt:lpwstr>
  </property>
  <property fmtid="{D5CDD505-2E9C-101B-9397-08002B2CF9AE}" pid="6" name="MSIP_Label_027a3850-2850-457c-8efb-fdd5fa4d27d3_SiteId">
    <vt:lpwstr>7369e6ec-faa6-42fa-bc0e-4f332da5b1db</vt:lpwstr>
  </property>
  <property fmtid="{D5CDD505-2E9C-101B-9397-08002B2CF9AE}" pid="7" name="MSIP_Label_027a3850-2850-457c-8efb-fdd5fa4d27d3_ActionId">
    <vt:lpwstr>b200b4da-7748-4c74-bd6a-9c4a89277f3f</vt:lpwstr>
  </property>
  <property fmtid="{D5CDD505-2E9C-101B-9397-08002B2CF9AE}" pid="8" name="MSIP_Label_027a3850-2850-457c-8efb-fdd5fa4d27d3_ContentBits">
    <vt:lpwstr>0</vt:lpwstr>
  </property>
  <property fmtid="{D5CDD505-2E9C-101B-9397-08002B2CF9AE}" pid="9" name="MSIP_Label_027a3850-2850-457c-8efb-fdd5fa4d27d3_Tag">
    <vt:lpwstr>10, 3, 0, 1</vt:lpwstr>
  </property>
</Properties>
</file>